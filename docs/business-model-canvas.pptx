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772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</p:spPr>
      </p:sp>
      <p:pic>
        <p:nvPicPr>
          <p:cNvPr id="4" name="Image 0" descr="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86868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Wergu Yaram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6868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6FBEF"/>
                </a:solidFill>
              </a:rPr>
              <a:t>BUSINESS MODEL CANVAS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32004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Le modèle économique de la plateforme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68680" y="4480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FF8"/>
                </a:solidFill>
              </a:rPr>
              <a:t>Plateforme santé, communauté &amp; solidarité — Sénégal · XOF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5E"/>
                </a:solidFill>
              </a:rPr>
              <a:t>SNAPSHOT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9"/>
                </a:solidFill>
              </a:rPr>
              <a:t>En bref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640080" cy="54864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7FBFA"/>
          </a:solidFill>
          <a:ln w="12700">
            <a:solidFill>
              <a:srgbClr val="E6EE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3566160" cy="73152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57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49"/>
                </a:solidFill>
              </a:rPr>
              <a:t>Quoi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Portail santé vérifié + annuaire des structures + collecte de fonds &amp; événements, pour l'Afrique de l'Ouest.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182880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7FBFA"/>
          </a:solidFill>
          <a:ln w="12700">
            <a:solidFill>
              <a:srgbClr val="E6EE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1828800"/>
            <a:ext cx="3566160" cy="73152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057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49"/>
                </a:solidFill>
              </a:rPr>
              <a:t>Pour qui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260604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Grand public, donateurs, structures de santé, ONG/partenaires, organisateurs, soignants.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7FBFA"/>
          </a:solidFill>
          <a:ln w="12700">
            <a:solidFill>
              <a:srgbClr val="E6EE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828800"/>
            <a:ext cx="3566160" cy="73152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2057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49"/>
                </a:solidFill>
              </a:rPr>
              <a:t>Comment on gagne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75320" y="260604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Pourboire sur dons, abonnements de pages (MRR), espaces partenaires (Kit Digital), commission billetterie, sponsoring, data B2B.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Wergu Yaram — Business Model Canvas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5E"/>
                </a:solidFill>
              </a:rPr>
              <a:t>VUE D'ENSEMBLE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9"/>
                </a:solidFill>
              </a:rPr>
              <a:t>Business Model Canvas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640080" cy="54864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600200"/>
            <a:ext cx="230428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00200"/>
            <a:ext cx="2304288" cy="45720"/>
          </a:xfrm>
          <a:prstGeom prst="rect">
            <a:avLst/>
          </a:prstGeom>
          <a:solidFill>
            <a:srgbClr val="0B1F4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73352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B1F49"/>
                </a:solidFill>
              </a:rPr>
              <a:t>PARTENAIRES CLÉS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212140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Bictorys — mobile money (Wave, Orange Money, MTN, carte)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ASSAD &amp; partenaires communautaires / associatifs (pilotes)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Structures de santé &amp; ordres professionnels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ONG, fondations, institutions &amp; bailleurs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Partenaires académiques &amp; de formation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Google Places / OSM · Chatwoot / Brevo · Firebase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724912" y="1600200"/>
            <a:ext cx="2304288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24912" y="1600200"/>
            <a:ext cx="2304288" cy="4572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1" name="Text 9"/>
          <p:cNvSpPr/>
          <p:nvPr/>
        </p:nvSpPr>
        <p:spPr>
          <a:xfrm>
            <a:off x="2816352" y="1673352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B1F49"/>
                </a:solidFill>
              </a:rPr>
              <a:t>ACTIVITÉS CLÉS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816352" y="1984248"/>
            <a:ext cx="2121408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Production &amp; curation de contenu vérifié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Développement &amp; exploitation de la plateforme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Modération &amp; animation de la communauté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Onboarding &amp; animation des espaces partenaires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Campagnes de prévention ciblées (SMS / WhatsApp)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Mesure d'impact &amp; reporting ESG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Acquisition / SEO / growth · vente B2B · paiements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724912" y="3456432"/>
            <a:ext cx="2304288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24912" y="3456432"/>
            <a:ext cx="2304288" cy="4572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2816352" y="3529584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B1F49"/>
                </a:solidFill>
              </a:rPr>
              <a:t>RESSOURCES CLÉS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816352" y="3840480"/>
            <a:ext cx="2121408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Référentiel santé vérifié (UEMOA/LME) — moat de contenu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Plateforme tech (React + Firebase serverless, Typesense)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Socle multi-tenant + Comités (gouvernance d'impact)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Annuaire des structures + catalogue de formations (réseau)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Audience &amp; communauté engagée · marque de confiance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Mobile money (Bictorys) + omnicanal (Chatwoot)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084064" y="1600200"/>
            <a:ext cx="2304288" cy="3657600"/>
          </a:xfrm>
          <a:prstGeom prst="rect">
            <a:avLst/>
          </a:prstGeom>
          <a:solidFill>
            <a:srgbClr val="EEFDF8"/>
          </a:solidFill>
          <a:ln w="12700">
            <a:solidFill>
              <a:srgbClr val="E6EE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84064" y="1600200"/>
            <a:ext cx="2304288" cy="45720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19" name="Text 17"/>
          <p:cNvSpPr/>
          <p:nvPr/>
        </p:nvSpPr>
        <p:spPr>
          <a:xfrm>
            <a:off x="5175504" y="1673352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B1F49"/>
                </a:solidFill>
              </a:rPr>
              <a:t>PROPOSITIONS DE VALEUR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175504" y="1984248"/>
            <a:ext cx="212140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Information santé vérifiée &amp; gratuite (DCI/UEMOA, pathologies)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Annuaire géolocalisé + pages crédibles (Vérifié / Pro)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Espaces partenaires en marque blanche (Kit Digital)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Campagnes de prévention SMS/WhatsApp ciblées (consenties)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Tableaux de bord d'impact + reporting ESG (Comités)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Collecte de fonds traçable + billetterie d'événements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Communauté &amp; annuaire de professionnels vérifiés · formations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443216" y="1600200"/>
            <a:ext cx="2304288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43216" y="1600200"/>
            <a:ext cx="2304288" cy="4572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3" name="Text 21"/>
          <p:cNvSpPr/>
          <p:nvPr/>
        </p:nvSpPr>
        <p:spPr>
          <a:xfrm>
            <a:off x="7534656" y="1673352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B1F49"/>
                </a:solidFill>
              </a:rPr>
              <a:t>RELATIONS CLIENTS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534656" y="1984248"/>
            <a:ext cx="2121408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Self-service (comptes, pages, tableau de bord)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Espace partenaire dédié + Comité de pilotage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Reconnaissance des donateurs (« Mes dons &amp; impact »)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Communauté &amp; forum modérés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Support omnicanal (Chatwoot + messagerie in-app)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Abonnements (relation récurrente structures &amp; partenaires)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443216" y="3456432"/>
            <a:ext cx="2304288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43216" y="3456432"/>
            <a:ext cx="2304288" cy="4572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7" name="Text 25"/>
          <p:cNvSpPr/>
          <p:nvPr/>
        </p:nvSpPr>
        <p:spPr>
          <a:xfrm>
            <a:off x="7534656" y="3529584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B1F49"/>
                </a:solidFill>
              </a:rPr>
              <a:t>CANAUX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534656" y="3840480"/>
            <a:ext cx="2121408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Web / PWA — SEO du référentiel = moteur d'acquisition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Sous-domaines partenaires (&lt;marque&gt;.werguyaram.org)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Campagnes SMS / WhatsApp (Chatwoot)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Recherche fédérée (Typesense)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Réseaux sociaux · communautés WhatsApp / églises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Newsletter / email · bouche-à-oreille &amp; parrainage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9802368" y="1600200"/>
            <a:ext cx="230428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02368" y="1600200"/>
            <a:ext cx="2304288" cy="45720"/>
          </a:xfrm>
          <a:prstGeom prst="rect">
            <a:avLst/>
          </a:prstGeom>
          <a:solidFill>
            <a:srgbClr val="0B1F49"/>
          </a:solidFill>
          <a:ln/>
        </p:spPr>
      </p:sp>
      <p:sp>
        <p:nvSpPr>
          <p:cNvPr id="31" name="Text 29"/>
          <p:cNvSpPr/>
          <p:nvPr/>
        </p:nvSpPr>
        <p:spPr>
          <a:xfrm>
            <a:off x="9893808" y="1673352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B1F49"/>
                </a:solidFill>
              </a:rPr>
              <a:t>SEGMENTS DE CLIENTÈLE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893808" y="1984248"/>
            <a:ext cx="212140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Grand public : patients &amp; aidants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Donateurs (locaux + récurrents)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Structures de santé (hôpitaux, cliniques, CSPS)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Partenaires communautaires &amp; associatifs (ASSAD)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Institutions &amp; bailleurs (impact / ESG)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Académiques &amp; formation · soignants vérifiés · organisateurs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65760" y="5312664"/>
            <a:ext cx="584301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5312664"/>
            <a:ext cx="5843016" cy="45720"/>
          </a:xfrm>
          <a:prstGeom prst="rect">
            <a:avLst/>
          </a:prstGeom>
          <a:solidFill>
            <a:srgbClr val="667085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5385816"/>
            <a:ext cx="5660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B1F49"/>
                </a:solidFill>
              </a:rPr>
              <a:t>STRUCTURE DE COÛTS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7200" y="5696712"/>
            <a:ext cx="56601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Infrastructure cloud (coût marginal faible)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Frais agrégateur mobile money (~1,2 %)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Coûts SMS / WhatsApp (templates Meta, agrégateur)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263640" y="5312664"/>
            <a:ext cx="5843016" cy="914400"/>
          </a:xfrm>
          <a:prstGeom prst="rect">
            <a:avLst/>
          </a:prstGeom>
          <a:solidFill>
            <a:srgbClr val="EEFDF8"/>
          </a:solidFill>
          <a:ln w="12700">
            <a:solidFill>
              <a:srgbClr val="E6EE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63640" y="5312664"/>
            <a:ext cx="5843016" cy="45720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39" name="Text 37"/>
          <p:cNvSpPr/>
          <p:nvPr/>
        </p:nvSpPr>
        <p:spPr>
          <a:xfrm>
            <a:off x="6355080" y="5385816"/>
            <a:ext cx="5660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B1F49"/>
                </a:solidFill>
              </a:rPr>
              <a:t>SOURCES DE REVENUS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355080" y="5696712"/>
            <a:ext cx="56601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Dons + pourboire plateforme optionnel (+ dons récurrents)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Abonnements pages : Vérifié 9 900 / Pro 24 900 XOF / mois (−20 % annuel)</a:t>
            </a:r>
            <a:endParaRPr lang="en-US" sz="700" dirty="0"/>
          </a:p>
          <a:p>
            <a:pPr marL="152400" indent="-152400">
              <a:lnSpc>
                <a:spcPct val="95000"/>
              </a:lnSpc>
              <a:buSzPct val="100000"/>
              <a:buChar char="•"/>
            </a:pPr>
            <a:r>
              <a:rPr lang="en-US" sz="700" dirty="0">
                <a:solidFill>
                  <a:srgbClr val="667085"/>
                </a:solidFill>
              </a:rPr>
              <a:t>Espaces partenaires (Kit Digital) : ~49–99 k XOF/mois + Pacte-Convention annuel sur devis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Wergu Yaram — Business Model Canvas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B1F4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>
                    <a:alpha val="70000"/>
                  </a:srgbClr>
                </a:solidFill>
              </a:rPr>
              <a:t>01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Partenaires clés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126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Business Model Canvas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480560" y="914400"/>
            <a:ext cx="73152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Bictorys — mobile money (Wave, Orange Money, MTN, carte)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ASSAD &amp; partenaires communautaires / associatifs (pilotes)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Structures de santé &amp; ordres professionnels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ONG, fondations, institutions &amp; bailleurs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Partenaires académiques &amp; de formation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Google Places / OSM · Chatwoot / Brevo · Firebase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Wergu Yaram — Business Model Canvas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>
                    <a:alpha val="70000"/>
                  </a:srgbClr>
                </a:solidFill>
              </a:rPr>
              <a:t>02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Activités clés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126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Business Model Canvas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480560" y="914400"/>
            <a:ext cx="73152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Production &amp; curation de contenu vérifié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Développement &amp; exploitation de la plateforme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Modération &amp; animation de la communauté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Onboarding &amp; animation des espaces partenaires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Campagnes de prévention ciblées (SMS / WhatsApp)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Mesure d'impact &amp; reporting ESG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Acquisition / SEO / growth · vente B2B · paiements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Wergu Yaram — Business Model Canvas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>
                    <a:alpha val="70000"/>
                  </a:srgbClr>
                </a:solidFill>
              </a:rPr>
              <a:t>03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Ressources clés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126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Business Model Canvas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480560" y="914400"/>
            <a:ext cx="73152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Référentiel santé vérifié (UEMOA/LME) — moat de contenu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Plateforme tech (React + Firebase serverless, Typesense)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Socle multi-tenant + Comités (gouvernance d'impact)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Annuaire des structures + catalogue de formations (réseau)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Audience &amp; communauté engagée · marque de confiance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Mobile money (Bictorys) + omnicanal (Chatwoot)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Wergu Yaram — Business Model Canvas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>
                    <a:alpha val="70000"/>
                  </a:srgbClr>
                </a:solidFill>
              </a:rPr>
              <a:t>04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Propositions de valeur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126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Business Model Canvas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480560" y="914400"/>
            <a:ext cx="73152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Information santé vérifiée &amp; gratuite (DCI/UEMOA, pathologies)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Annuaire géolocalisé + pages crédibles (Vérifié / Pro)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Espaces partenaires en marque blanche (Kit Digital)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Campagnes de prévention SMS/WhatsApp ciblées (consenties)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Tableaux de bord d'impact + reporting ESG (Comités)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Collecte de fonds traçable + billetterie d'événements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Communauté &amp; annuaire de professionnels vérifiés · formations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Wergu Yaram — Business Model Canvas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>
                    <a:alpha val="70000"/>
                  </a:srgbClr>
                </a:solidFill>
              </a:rPr>
              <a:t>05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Relations clients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126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Business Model Canvas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480560" y="914400"/>
            <a:ext cx="73152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Self-service (comptes, pages, tableau de bord)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Espace partenaire dédié + Comité de pilotage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Reconnaissance des donateurs (« Mes dons &amp; impact »)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Communauté &amp; forum modérés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Support omnicanal (Chatwoot + messagerie in-app)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Abonnements (relation récurrente structures &amp; partenaires)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Wergu Yaram — Business Model Canvas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>
                    <a:alpha val="70000"/>
                  </a:srgbClr>
                </a:solidFill>
              </a:rPr>
              <a:t>06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Canaux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126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Business Model Canvas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480560" y="914400"/>
            <a:ext cx="73152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Web / PWA — SEO du référentiel = moteur d'acquisition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Sous-domaines partenaires (&lt;marque&gt;.werguyaram.org)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Campagnes SMS / WhatsApp (Chatwoot)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Recherche fédérée (Typesense)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Réseaux sociaux · communautés WhatsApp / églises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Newsletter / email · bouche-à-oreille &amp; parrainage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Wergu Yaram — Business Model Canvas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B1F4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>
                    <a:alpha val="70000"/>
                  </a:srgbClr>
                </a:solidFill>
              </a:rPr>
              <a:t>07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Segments de clientèle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126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Business Model Canvas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480560" y="914400"/>
            <a:ext cx="73152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Grand public : patients &amp; aidants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Donateurs (locaux + récurrents)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Structures de santé (hôpitaux, cliniques, CSPS)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Partenaires communautaires &amp; associatifs (ASSAD)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Institutions &amp; bailleurs (impact / ESG)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Académiques &amp; formation · soignants vérifiés · organisateurs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Wergu Yaram — Business Model Canvas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6670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>
                    <a:alpha val="70000"/>
                  </a:srgbClr>
                </a:solidFill>
              </a:rPr>
              <a:t>08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Structure de coûts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126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Business Model Canvas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480560" y="914400"/>
            <a:ext cx="73152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Infrastructure cloud (coût marginal faible)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Frais agrégateur mobile money (~1,2 %)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Coûts SMS / WhatsApp (templates Meta, agrégateur)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Provisioning DNS / SSL multi-tenant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Production éditoriale &amp; modération · acquisition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Équipe &amp; exploitation · conformité (TVA, CDP)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Wergu Yaram — Business Model Canvas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>
                    <a:alpha val="70000"/>
                  </a:srgbClr>
                </a:solidFill>
              </a:rPr>
              <a:t>09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Sources de revenus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126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Business Model Canvas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480560" y="914400"/>
            <a:ext cx="73152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Dons + pourboire plateforme optionnel (+ dons récurrents)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Abonnements pages : Vérifié 9 900 / Pro 24 900 XOF / mois (−20 % annuel)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Espaces partenaires (Kit Digital) : ~49–99 k XOF/mois + Pacte-Convention annuel sur devis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Commission billetterie (8–10 %)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Sponsoring de rubriques (150 k–400 k XOF / mois)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49"/>
                </a:solidFill>
              </a:rPr>
              <a:t>Data / B2B &amp; rapports d'impact (devis 500 k+ XOF)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Wergu Yaram — Business Model Canvas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5E"/>
                </a:solidFill>
              </a:rPr>
              <a:t>MODÈLE FINANCIER — XOF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9"/>
                </a:solidFill>
              </a:rPr>
              <a:t>Sources de revenus &amp; unit economics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640080" cy="54864"/>
          </a:xfrm>
          <a:prstGeom prst="rect">
            <a:avLst/>
          </a:prstGeom>
          <a:solidFill>
            <a:srgbClr val="007A5E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47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1463040"/>
                <a:gridCol w="28346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Ligne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Modèle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Entrée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Premium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LTV/CAC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Marge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Dons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Don + pourboire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500 XOF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5 000/mois (récurrent)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10×–∞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~94 %*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Pages structures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Abonnement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Gratuit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9 900 → 24 900/mois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~22×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~88 %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Espaces partenaires (Kit)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Hybride abo + convention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~49 k/mois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Convention (devis)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élevé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~88 %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Billetterie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One-time + commission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Gratuit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2 500–15 000/billet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élevé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~90 %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Sponsoring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Rubrique sponsorisée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150 k–400 k/mois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~95 %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Data / B2B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Licence / devis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500 k+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49"/>
                          </a:solidFill>
                        </a:rPr>
                        <a:t>~85 %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85"/>
                </a:solidFill>
              </a:rPr>
              <a:t>* Marge plateforme sur dons = pourboire/frais perçus − frais agrégateur ; le don est intégralement reversé à la structure.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5440680"/>
            <a:ext cx="11247120" cy="548640"/>
          </a:xfrm>
          <a:prstGeom prst="rect">
            <a:avLst/>
          </a:prstGeom>
          <a:solidFill>
            <a:srgbClr val="EEFDF8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A5E"/>
                </a:solidFill>
              </a:rPr>
              <a:t>Objectif An 1 : </a:t>
            </a:r>
            <a:pPr algn="l" indent="0" marL="0">
              <a:buNone/>
            </a:pPr>
            <a:r>
              <a:rPr lang="en-US" sz="1300" dirty="0">
                <a:solidFill>
                  <a:srgbClr val="0B1F49"/>
                </a:solidFill>
              </a:rPr>
              <a:t>3–12 M XOF · ~50–150 structures payantes + espaces partenaires (MRR B2B) · marges 85–95 %.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Wergu Yaram — Business Model Canvas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5E"/>
                </a:solidFill>
              </a:rPr>
              <a:t>EXÉCUTION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9"/>
                </a:solidFill>
              </a:rPr>
              <a:t>Roadmap 12 mois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640080" cy="54864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73736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F7FBFA"/>
          </a:solidFill>
          <a:ln w="12700">
            <a:solidFill>
              <a:srgbClr val="E6EE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109728" cy="960120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4708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9"/>
                </a:solidFill>
              </a:rPr>
              <a:t>M1–M3 · Fondations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023360" y="1847088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Activer dons (Bictorys) + pourboire ; migration données ; KPIs.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0" y="1847088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7A5E"/>
                </a:solidFill>
              </a:rPr>
              <a:t>0,1–0,6 M XOF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6EE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880360"/>
            <a:ext cx="109728" cy="960120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99008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9"/>
                </a:solidFill>
              </a:rPr>
              <a:t>M4–M6 · Accélération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023360" y="2990088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Abonnements pages + espaces partenaires (Kit Digital) ; dons récurrents.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0" y="2990088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7A5E"/>
                </a:solidFill>
              </a:rPr>
              <a:t>0,8–3 M XOF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F7FBFA"/>
          </a:solidFill>
          <a:ln w="12700">
            <a:solidFill>
              <a:srgbClr val="E6EE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023360"/>
            <a:ext cx="109728" cy="960120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3308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9"/>
                </a:solidFill>
              </a:rPr>
              <a:t>M7–M9 · Expansion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023360" y="4133088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Billetterie ; cross-sell ; dashboard revenus.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0" y="4133088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7A5E"/>
                </a:solidFill>
              </a:rPr>
              <a:t>2–6 M XOF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16636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6EE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166360"/>
            <a:ext cx="109728" cy="960120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27608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9"/>
                </a:solidFill>
              </a:rPr>
              <a:t>M10–M12 · Optimisation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023360" y="5276088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Pricing/funnel ; reporting auto ; 1ᵉʳ deal data B2B.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0" y="5276088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7A5E"/>
                </a:solidFill>
              </a:rPr>
              <a:t>3–12 M XOF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Wergu Yaram — Business Model Canvas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</p:spPr>
      </p:sp>
      <p:pic>
        <p:nvPicPr>
          <p:cNvPr id="3" name="Image 0" descr="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86868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Wergu Yaram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22960" y="2743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0B894"/>
                </a:solidFill>
              </a:rPr>
              <a:t>Prochaine étape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32918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Activer les revenus, construire la récurrence,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mesurer — et passer à l'échelle.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68680" y="4937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C0D6"/>
                </a:solidFill>
              </a:rPr>
              <a:t>La santé pour tous, financée durablement.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Wergu Yaram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Wergu Yaram — Business Model Canvas</dc:title>
  <dc:subject>Business Model Canvas</dc:subject>
  <dc:creator>Wergu Yaram</dc:creator>
  <cp:lastModifiedBy>Wergu Yaram</cp:lastModifiedBy>
  <cp:revision>1</cp:revision>
  <dcterms:created xsi:type="dcterms:W3CDTF">2026-06-23T09:47:58Z</dcterms:created>
  <dcterms:modified xsi:type="dcterms:W3CDTF">2026-06-23T09:47:58Z</dcterms:modified>
</cp:coreProperties>
</file>