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gradFill rotWithShape="1">
            <a:gsLst>
              <a:gs pos="0">
                <a:srgbClr val="00B894"/>
              </a:gs>
              <a:gs pos="100000">
                <a:srgbClr val="007A5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1371600"/>
            <a:ext cx="5029200" cy="5029200"/>
          </a:xfrm>
          <a:prstGeom prst="ellipse">
            <a:avLst/>
          </a:prstGeom>
          <a:solidFill>
            <a:srgbClr val="00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4937760"/>
            <a:ext cx="2926080" cy="2926080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303520"/>
            <a:ext cx="3291840" cy="3291840"/>
          </a:xfrm>
          <a:prstGeom prst="ellipse">
            <a:avLst/>
          </a:prstGeom>
          <a:solidFill>
            <a:srgbClr val="00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777240"/>
            <a:ext cx="3108960" cy="1143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024128"/>
            <a:ext cx="1600834" cy="658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GUIDE D'UTILISATEUR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1089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Inter"/>
              </a:rPr>
              <a:t>Guide d'utilisateur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EFDF8"/>
                </a:solidFill>
                <a:latin typeface="Inter"/>
              </a:rPr>
              <a:t>Portail santé du Sénégal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Inter"/>
              </a:rPr>
              <a:t>Trouver, comprendre, agir pour la santé — pour tous.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EFDF8"/>
                </a:solidFill>
                <a:latin typeface="Inter"/>
              </a:rPr>
              <a:t>Version 1.0 · werguyaram.org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F49"/>
                </a:solidFill>
                <a:latin typeface="Inter"/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822960" cy="64008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1600200"/>
            <a:ext cx="457200" cy="45720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910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6362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49"/>
                </a:solidFill>
                <a:latin typeface="Inter"/>
              </a:rPr>
              <a:t>Découvrir Wergu Yaram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11095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Mission, piliers, à qui s'adresse la plateforme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258568"/>
            <a:ext cx="457200" cy="45720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2494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21991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49"/>
                </a:solidFill>
                <a:latin typeface="Inter"/>
              </a:rPr>
              <a:t>Démarrage rapide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569463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Compte, connexion, profil, tableau de bord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16935"/>
            <a:ext cx="457200" cy="45720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0779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80359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49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227831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Rechercher, s'informer, trouver, échanger, donner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3575303"/>
            <a:ext cx="457200" cy="457200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5661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538727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49"/>
                </a:solidFill>
                <a:latin typeface="Inter"/>
              </a:rPr>
              <a:t>Professionnels de santé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886199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Vérification, établissements, besoins d'équipement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233671"/>
            <a:ext cx="457200" cy="457200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2245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197095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49"/>
                </a:solidFill>
                <a:latin typeface="Inter"/>
              </a:rPr>
              <a:t>Partenaires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544567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Espace dédié, contenus, campagnes, personnalisation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4892039"/>
            <a:ext cx="457200" cy="457200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88289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855463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49"/>
                </a:solidFill>
                <a:latin typeface="Inter"/>
              </a:rPr>
              <a:t>Administrateurs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202935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Back-office, modération, annuaire, revenus, réglages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" y="5550407"/>
            <a:ext cx="457200" cy="45720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54126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513831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49"/>
                </a:solidFill>
                <a:latin typeface="Inter"/>
              </a:rPr>
              <a:t>Sécurité, FAQ &amp; glossaire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861303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Confidentialité, dépannage, lexique, contacts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" y="-45720"/>
            <a:ext cx="4206240" cy="6949440"/>
          </a:xfrm>
          <a:prstGeom prst="rect">
            <a:avLst/>
          </a:prstGeom>
          <a:gradFill rotWithShape="1">
            <a:gsLst>
              <a:gs pos="0">
                <a:srgbClr val="007A5E"/>
              </a:gs>
              <a:gs pos="100000">
                <a:srgbClr val="0B1F49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24028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23570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WERGU YARAM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697480"/>
            <a:ext cx="7040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Inter"/>
              </a:rPr>
              <a:t>Découvrir Wergu Yaram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728" y="3977639"/>
            <a:ext cx="914400" cy="73152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20624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EFDF8"/>
                </a:solidFill>
                <a:latin typeface="Inter"/>
              </a:rPr>
              <a:t>Le portail santé de référence au Sénégal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5989320"/>
            <a:ext cx="93382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WERGU YARAM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Qu'est-ce que Wergu Yaram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67085"/>
                </a:solidFill>
                <a:latin typeface="Inter"/>
              </a:rPr>
              <a:t>Wergu Yaram (« la santé du corps ») est un portail web qui rassemble l'information santé fiable, l'annuaire des structures de soins et une communauté solidaire, accessible à tous depuis un ordinateur ou un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072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718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Contenus vérifiés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747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Fiches médicaments (DCI), pathologies et articles relus par un comité éditorial, avec sources et dates de mise à 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146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6248" y="28072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9718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Une communauté solidaire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4747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Communautés thématiques et forum pour poser des questions et trouver du soutien auprès de personnes qui comprennent.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48646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0292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Agir concrètement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321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Soutenir les besoins d'équipement des structures de santé proches de vous grâce aux dons en ligne (Wave, Orange Money, MTN, carte).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WERGU YARAM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À qui s'adresse la plateforme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67085"/>
                </a:solidFill>
                <a:latin typeface="Inter"/>
              </a:rPr>
              <a:t>Quatre grands profils d'utilisateurs, chacun avec son espace et ses fonctionnalités.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072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718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747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Rechercher des informations santé, trouver un établissement, échanger, faire un don, s'inscrire à des événements.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146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6248" y="28072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9718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Professionnels de santé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4747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Obtenir un badge vérifié, gérer une fiche d'établissement, lancer des besoins d'équipement.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48646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0292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Partenaires (ONG, institutions)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321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Animer un espace de marque dédié, publier des contenus, diffuser des campagnes de prévention.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5720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6248" y="48646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50292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Administrateurs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5321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Gérer les contenus, la modération, l'annuaire, les utilisateurs et le suivi des revenus.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" y="-45720"/>
            <a:ext cx="4206240" cy="6949440"/>
          </a:xfrm>
          <a:prstGeom prst="rect">
            <a:avLst/>
          </a:prstGeom>
          <a:gradFill rotWithShape="1">
            <a:gsLst>
              <a:gs pos="0">
                <a:srgbClr val="007A5E"/>
              </a:gs>
              <a:gs pos="100000">
                <a:srgbClr val="0B1F49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24028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23570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WERGU YARAM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697480"/>
            <a:ext cx="7040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Inter"/>
              </a:rPr>
              <a:t>Démarrage rapide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728" y="3977639"/>
            <a:ext cx="914400" cy="73152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20624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EFDF8"/>
                </a:solidFill>
                <a:latin typeface="Inter"/>
              </a:rPr>
              <a:t>Créer son compte et prendre ses marques en 5 minutes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5989320"/>
            <a:ext cx="93382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WERGU YARAM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Créer un compte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L'inscription est gratuite et ouvre l'accès au tableau de bord, à la messagerie et au suivi de vos dons.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Cliquez sur « Inscription » en haut à droite, ou rendez-vous sur la page dédiée.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Renseignez votre nom, votre e-mail et un mot de passe sécurisé.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Choisissez votre profil : patient/grand public, professionnel de santé, partenaire ou donateur.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Validez : vous êtes immédiatement connecté et redirigé vers votre tableau de bord.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Vous pourrez préciser vos centres d'intérêt santé plus tard pour personnaliser votre fil.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WERGU YARAM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Se connecter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Retrouvez votre espace personnel à tout moment avec votre e-mail et votre mot de passe.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Cliquez sur « Connexion » dans l'en-tête du site.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Saisissez votre e-mail et votre mot de passe.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Cliquez sur « Se connecter ».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En cas d'oubli, utilisez le lien de réinitialisation du mot de passe.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1E1E"/>
                </a:solidFill>
                <a:latin typeface="Inter"/>
              </a:rPr>
              <a:t>IMPORTANT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Ne partagez jamais votre mot de passe. Déconnectez-vous sur un ordinateur partagé.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WERGU YARAM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Votre tableau de bord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Le tableau de bord est votre point d'entrée personnel une fois connecté.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Accédez à « Tableau de bord » depuis le menu de votre compte.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Retrouvez vos favoris, vos centres d'intérêt et vos communautés.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Suivez vos dons et accédez rapidement à vos messages.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Utilisez les raccourcis pour éditer votre profil ou demander une vérification.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Le contenu du tableau de bord s'adapte à votre profil et à vos centres d'intérêt.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WERGU YARAM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Éditer votre profil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Complétez votre profil pour une expérience personnalisée et des recommandations pertinentes.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Tableau de bord » puis « Modifier le profil ».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Renseignez votre nom affiché, votre langue et votre région.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Sélectionnez vos centres d'intérêt santé (diabète, santé maternelle, etc.).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Activez, si vous le souhaitez, le consentement aux campagnes de prévention SMS/WhatsApp.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Enregistrer votre région et votre position améliore les résultats « près de chez vous 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" y="-45720"/>
            <a:ext cx="4206240" cy="6949440"/>
          </a:xfrm>
          <a:prstGeom prst="rect">
            <a:avLst/>
          </a:prstGeom>
          <a:gradFill rotWithShape="1">
            <a:gsLst>
              <a:gs pos="0">
                <a:srgbClr val="007A5E"/>
              </a:gs>
              <a:gs pos="100000">
                <a:srgbClr val="0B1F49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24028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23570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697480"/>
            <a:ext cx="7040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728" y="3977639"/>
            <a:ext cx="914400" cy="73152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20624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EFDF8"/>
                </a:solidFill>
                <a:latin typeface="Inter"/>
              </a:rPr>
              <a:t>S'informer, trouver, échanger et soutenir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5989320"/>
            <a:ext cx="93382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Rechercher sur la plateforme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La barre de recherche universelle interroge en une fois médicaments, pathologies, articles, établissements, communautés, événements et besoins.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Saisissez un mot-clé dans la barre de recherche (ex. « diabète », « paracétamol »).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Parcourez les suggestions instantanées proposées pendant la saisie.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Sur la page de résultats, affinez avec les filtres (type de contenu, région, etc.).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Cliquez sur un résultat pour ouvrir sa fiche détaillée.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Combinez les filtres pour cibler précisément (ex. établissements d'une région donnée).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2_recher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14525"/>
            <a:ext cx="5065776" cy="316611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Consulter une fiche médicament (DCI)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Les fiches médicaments décrivent le principe actif, les usages et les précautions, dans le respect de la réglementation UEMOA.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Recherchez un médicament et ouvrez sa fiche.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Consultez la composition, la posologie et les formes disponibles.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Vérifiez les contre-indications et les effets indésirables.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Repérez la disponibilité par niveau de soins (CSPS, CM, CMA, CH).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1E1E"/>
                </a:solidFill>
                <a:latin typeface="Inter"/>
              </a:rPr>
              <a:t>IMPORTANT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Ces informations sont éducatives et ne remplacent pas l'avis d'un professionnel de santé.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3_medica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14525"/>
            <a:ext cx="5065776" cy="316611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Comprendre une pathologie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Chaque fiche maladie explique l'essentiel : comprendre, reconnaître, prévenir et savoir quand consulter.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une fiche pathologie depuis la recherche.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Lisez les symptômes, les causes et les moyens de prévention.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Consultez les traitements et la rubrique « quand consulter ».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Explorez les médicaments liés et les structures concernées.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La FAQ en bas de fiche répond aux questions les plus fréquentes.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4_patholog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14525"/>
            <a:ext cx="5065776" cy="316611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Lire un article santé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Articles et vidéos de prévention, rédigés et vérifiés, avec leurs sources.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un article depuis la recherche ou la page d'accueil.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Repérez le temps de lecture et le sommaire pour naviguer.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Vérifiez l'auteur, les sources et la date de mise à jour.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Parcourez les contenus liés suggérés en fin d'article.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Le badge « vérifié » et les sources citées sont des repères de confiance.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5_arti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748347"/>
            <a:ext cx="5065776" cy="349846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Trouver un établissement de santé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L'annuaire recense les structures de soins : adresse, services, spécialités et avis.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Établissements » depuis le menu.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Filtrez par région, catégorie (CSPS, CM, CMA, CH) ou secteur (public/privé).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une fiche pour voir coordonnées, services, médecins et avis.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Laissez une note et un avis pour aider les autres usagers.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Les besoins d'équipement d'une structure apparaissent directement sur sa fiche.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7_etablisseme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14525"/>
            <a:ext cx="5065776" cy="316611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Explorer la carte interactive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Visualisez les établissements sur une carte et trouvez les structures proches de vous.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la page « Carte ».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Autorisez la géolocalisation pour centrer la carte sur votre position.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Utilisez les filtres pour n'afficher que certains types de structures.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Cliquez sur un repère pour voir le résumé et accéder à la fiche complète.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Les repères se regroupent automatiquement quand vous dézoomez.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9_c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14525"/>
            <a:ext cx="5065776" cy="316611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Rejoindre une communauté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Les communautés réunissent des personnes autour d'un thème de santé.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Communautés » et choisissez un thème qui vous concerne.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Consultez les règles, les ressources et les publications récentes.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Rejoignez la communauté pour participer.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Publiez, commentez et soutenez les messages des autres membres.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Les événements liés à une communauté sont annoncés sur sa page.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1_communaut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14525"/>
            <a:ext cx="5065776" cy="316611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Poser une question au forum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Le forum permet de poser des questions, partager des conseils et échanger.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Forum » et parcourez les fils (questions, discussions, conseils).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Recherchez par mot-clé ou filtrez par étiquette.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Cliquez sur « Poser une question » pour créer un nouveau sujet.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Votez pour les meilleures réponses et repérez les solutions validées.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1E1E"/>
                </a:solidFill>
                <a:latin typeface="Inter"/>
              </a:rPr>
              <a:t>IMPORTANT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Restez courtois et ne partagez pas d'informations personnelles sensibles.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2_fo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14525"/>
            <a:ext cx="5065776" cy="316611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Faire un don pour un équipement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Soutenez concrètement une structure de santé en finançant un besoin d'équipement précis.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Besoins » et choisissez une campagne (objectif, montant collecté, jours restants).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Découvrez l'histoire, le budget détaillé et l'impact attendu.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Cliquez sur « Faire un don » et choisissez un montant (ou un montant libre).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Sélectionnez votre moyen de paiement : Wave, Orange Money, MTN ou carte bancaire.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Un pourboire facultatif permet de soutenir le fonctionnement de la plateforme.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4_besoi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14525"/>
            <a:ext cx="5065776" cy="316611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Suivre vos dons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Retrouvez l'historique de vos dons, vos reçus et l'impact de votre générosité.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Après un don, vous recevez une confirmation par e-mail.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Tableau de bord » puis « Mes dons ».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Consultez l'historique et téléchargez vos reçus.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Suivez l'avancement des campagnes que vous avez soutenues.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Conservez vos reçus : ils peuvent servir de justificatifs.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Événements &amp; formations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Participez à des ateliers, webinaires et formations santé près de chez vous ou en ligne.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Événements » ou « Formations » et filtrez par thème, format ou ville.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une fiche pour voir le programme, les intervenants et les infos pratiques.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Inscrivez-vous (gratuit) ou achetez un billet si l'événement est payant.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Recevez votre confirmation et, le cas échéant, votre billet par e-mail.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Les formations peuvent délivrer une attestation ou un certificat.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6_eveneme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14525"/>
            <a:ext cx="5065776" cy="316611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GRAND PUBLIC &amp;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Messagerie &amp;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Échangez en privé avec d'autres membres et contactez le support en cas de besoin.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Messages » pour accéder à vos conversations privées.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Sélectionnez une conversation ou démarrez-en une nouvelle.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Pour une question à l'équipe, utilisez la bulle de support en bas à droite.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Le support est joignable via le web, WhatsApp, e-mail et réseaux sociaux.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La bulle de support vous suit sur toutes les pages du site.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" y="-45720"/>
            <a:ext cx="4206240" cy="6949440"/>
          </a:xfrm>
          <a:prstGeom prst="rect">
            <a:avLst/>
          </a:prstGeom>
          <a:gradFill rotWithShape="1">
            <a:gsLst>
              <a:gs pos="0">
                <a:srgbClr val="00B894"/>
              </a:gs>
              <a:gs pos="100000">
                <a:srgbClr val="0B1F49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24028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23570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B894"/>
                </a:solidFill>
                <a:latin typeface="Inter"/>
              </a:rPr>
              <a:t>PROFESSIONNELS DE SANTÉ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697480"/>
            <a:ext cx="7040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Inter"/>
              </a:rPr>
              <a:t>Professionnels de santé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728" y="3977639"/>
            <a:ext cx="914400" cy="73152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20624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EFDF8"/>
                </a:solidFill>
                <a:latin typeface="Inter"/>
              </a:rPr>
              <a:t>Valoriser votre structure et mobiliser des ressources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5989320"/>
            <a:ext cx="93382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B894"/>
                </a:solidFill>
                <a:latin typeface="Inter"/>
              </a:rPr>
              <a:t>PROFESSIONNELS DE SANTÉ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Obtenir le badge « Professionnel vérifié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La vérification renforce votre crédibilité et débloque les fonctions professionnelles.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Tableau de bord » puis « Vérification professionnelle ».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Renseignez votre numéro d'ordre/licence et vos spécialités.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Indiquez votre structure de rattachement et joignez vos justificatifs.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Soumettez la demande : elle est examinée par un administrateur.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Une fois validé, un badge vérifié apparaît sur vos contributions.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B894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B894"/>
                </a:solidFill>
                <a:latin typeface="Inter"/>
              </a:rPr>
              <a:t>PROFESSIONNELS DE SANTÉ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Créer ou revendiquer un établissement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Référencez votre structure ou prenez la main sur une fiche déjà importée.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Pour une nouvelle structure : « Tableau de bord » → « Créer une page ».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Pour une fiche existante : ouvrez-la puis cliquez sur « Revendiquer ».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Justifiez votre demande de propriété (rôle, justificatifs).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Après validation, la fiche vous est attribuée et devient gérable.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1E1E"/>
                </a:solidFill>
                <a:latin typeface="Inter"/>
              </a:rPr>
              <a:t>IMPORTANT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La revendication est vérifiée par l'équipe avant attribution.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8_revendiqu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14525"/>
            <a:ext cx="5065776" cy="316611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B894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B894"/>
                </a:solidFill>
                <a:latin typeface="Inter"/>
              </a:rPr>
              <a:t>PROFESSIONNELS DE SANTÉ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Gérer la fiche de votre établissement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Tenez à jour les informations vues par le public et améliorez votre visibilité.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la fiche depuis « Tableau de bord » → vos établissements.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Mettez à jour adresse, horaires, services, spécialités et médecins.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Ajoutez des photos et publiez la fiche.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Ajoutez des co-gestionnaires si plusieurs personnes administrent la structure.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Une fiche complète et publiée est mieux référencée dans l'annuaire et la recherche.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B894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B894"/>
                </a:solidFill>
                <a:latin typeface="Inter"/>
              </a:rPr>
              <a:t>PROFESSIONNELS DE SANTÉ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Lancer un besoin d'équipement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Mobilisez des dons pour financer un équipement précis de votre structure.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Depuis la gestion de votre établissement, créez un nouveau besoin.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Décrivez l'objectif, le budget détaillé et l'impact attendu.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Ajoutez des photos et les documents justificatifs.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Publiez : la campagne apparaît dans « Besoins » et sur votre fiche.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Des mises à jour régulières rassurent les donateurs et relancent les dons.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3_beso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14525"/>
            <a:ext cx="5065776" cy="316611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B894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2099462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20994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B894"/>
                </a:solidFill>
                <a:latin typeface="Inter"/>
              </a:rPr>
              <a:t>PROFESSIONNELS DE SANTÉ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Avantages des offres Vérifié &amp;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67085"/>
                </a:solidFill>
                <a:latin typeface="Inter"/>
              </a:rPr>
              <a:t>Au-delà de la fiche gratuite, des offres renforcent la visibilité et les outils des structures.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07208"/>
            <a:ext cx="457200" cy="64008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718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Badge &amp; confiance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747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Badge vérifié et mise en avant de la fiche dans l'annuaire et la recherche.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146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6248" y="2807208"/>
            <a:ext cx="457200" cy="64008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9718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Visibilité accrue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4747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Placement prioritaire et mise en avant (featured) selon l'offre souscrite.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4864608"/>
            <a:ext cx="457200" cy="64008"/>
          </a:xfrm>
          <a:prstGeom prst="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0292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Outils de 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321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Gestion enrichie de la fiche, des besoins d'équipement et des co-gestionnaires.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B894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" y="-45720"/>
            <a:ext cx="4206240" cy="6949440"/>
          </a:xfrm>
          <a:prstGeom prst="rect">
            <a:avLst/>
          </a:prstGeom>
          <a:gradFill rotWithShape="1">
            <a:gsLst>
              <a:gs pos="0">
                <a:srgbClr val="0B1F49"/>
              </a:gs>
              <a:gs pos="100000">
                <a:srgbClr val="0B1F49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24028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23570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1F49"/>
                </a:solidFill>
                <a:latin typeface="Inter"/>
              </a:rPr>
              <a:t>PARTENAIRES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697480"/>
            <a:ext cx="7040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Inter"/>
              </a:rPr>
              <a:t>Partenaires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728" y="3977639"/>
            <a:ext cx="914400" cy="73152"/>
          </a:xfrm>
          <a:prstGeom prst="rect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20624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EFDF8"/>
                </a:solidFill>
                <a:latin typeface="Inter"/>
              </a:rPr>
              <a:t>Un espace de marque pour ONG, institutions et entreprises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5989320"/>
            <a:ext cx="93382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1F49"/>
                </a:solidFill>
                <a:latin typeface="Inter"/>
              </a:rPr>
              <a:t>PARTENAIRES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Votre espace partenaire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Chaque partenaire dispose d'un espace de marque dédié, regroupant ses contenus et actions.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Accédez à votre espace public (ex. werguyaram.org/espace/votre-nom).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Présentez votre mission, votre équipe et vos indicateurs d'impact.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Mettez en avant vos communautés, articles, événements et formations.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Partagez l'adresse de votre espace à vos publics.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Un domaine personnalisé peut être configuré pour votre espace.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B1F49"/>
                </a:solidFill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1F49"/>
                </a:solidFill>
                <a:latin typeface="Inter"/>
              </a:rPr>
              <a:t>PARTENAIRES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Gérer les contenus de l'espace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Publiez et organisez vos propres contenus depuis la console de gestion.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Gestion » → « Contenus » dans votre espace.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Choisissez un type : article, événement, formation ou communauté.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Créez ou modifiez un contenu via l'éditeur dédié.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Publiez : le contenu apparaît dans votre espace et, si pertinent, sur la plateforme.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Vos contenus restent rattachés à votre marque (logo et lien sponsor).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B1F49"/>
                </a:solidFill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1F49"/>
                </a:solidFill>
                <a:latin typeface="Inter"/>
              </a:rPr>
              <a:t>PARTENAIRES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Diffuser des campagnes SMS / WhatsApp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Touchez vos publics avec des campagnes de prévention ciblées, en libre-service.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Gestion » → « Campagnes ».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Ciblez votre audience par centre d'intérêt, région ou communauté.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Rédigez votre message et choisissez le canal (SMS ou WhatsApp).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Envoyez et suivez les indicateurs (envois, échecs, désinscriptions).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1E1E"/>
                </a:solidFill>
                <a:latin typeface="Inter"/>
              </a:rPr>
              <a:t>IMPORTANT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Les campagnes respectent les consentements et un quota propre à votre espace.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B1F49"/>
                </a:solidFill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1F49"/>
                </a:solidFill>
                <a:latin typeface="Inter"/>
              </a:rPr>
              <a:t>PARTENAIRES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Personnaliser &amp; paramétrer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Adaptez l'apparence de votre espace et gérez ses réglages.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Gestion » → « Paramètres ».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Personnalisez la couleur d'accent, la bannière et le logo.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Configurez le domaine et les accès de votre équipe (co-gestionnaires).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Enregistrez : vos changements s'appliquent à votre espace public.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Un espace soigné renforce la confiance et l'engagement de vos publics.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B1F49"/>
                </a:solidFill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" y="-45720"/>
            <a:ext cx="4206240" cy="6949440"/>
          </a:xfrm>
          <a:prstGeom prst="rect">
            <a:avLst/>
          </a:prstGeom>
          <a:gradFill rotWithShape="1">
            <a:gsLst>
              <a:gs pos="0">
                <a:srgbClr val="4F39C7"/>
              </a:gs>
              <a:gs pos="100000">
                <a:srgbClr val="0B1F49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240280"/>
            <a:ext cx="1426463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235708"/>
            <a:ext cx="14264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ADMINISTRATEURS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697480"/>
            <a:ext cx="7040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Inter"/>
              </a:rPr>
              <a:t>Administrateurs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728" y="3977639"/>
            <a:ext cx="914400" cy="73152"/>
          </a:xfrm>
          <a:prstGeom prst="rect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20624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EFDF8"/>
                </a:solidFill>
                <a:latin typeface="Inter"/>
              </a:rPr>
              <a:t>Piloter la plateforme depuis le back-office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5989320"/>
            <a:ext cx="93382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26463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4264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ADMINISTRATEURS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Accéder au back-office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L'espace d'administration centralise la gestion de la plateforme, selon vos droits.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Connectez-vous avec un compte disposant d'un rôle (éditeur, admin, super-admin).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l'espace « Admin ».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Le tableau de bord présente l'aperçu et les accès rapides.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Les menus visibles dépendent de vos permissions.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1E1E"/>
                </a:solidFill>
                <a:latin typeface="Inter"/>
              </a:rPr>
              <a:t>IMPORTANT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Chaque section est protégée par une permission spécifique.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26463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4264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ADMINISTRATEURS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Gérer les contenus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Créez et maintenez la base de connaissances : médicaments, pathologies, articles, événements…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Admin » → « Contenus ».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Choisissez un type de contenu et parcourez la liste (recherche, pagination).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Créez un nouvel élément ou modifiez un élément existant.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Renseignez les métadonnées de confiance (sources, date) puis publiez.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Les métadonnées de confiance renforcent la crédibilité auprès du public.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26463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4264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ADMINISTRATEURS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Gérer les utilisateurs &amp; rôles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Administrez les comptes, attribuez les rôles et gérez les statuts.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Admin » → « Utilisateurs ».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Recherchez un compte par e-mail, rôle ou statut.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Attribuez un rôle (éditeur, admin…) — l'attribution super-admin est réservée.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Modifiez le statut d'un compte (actif, en attente, suspendu).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1E1E"/>
                </a:solidFill>
                <a:latin typeface="Inter"/>
              </a:rPr>
              <a:t>IMPORTANT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Les changements de rôle sont sensibles : appliquez le moindre privilège.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26463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4264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ADMINISTRATEURS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Modérer les contenus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Traitez les signalements et veillez à la qualité des contributions.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Admin » → « Modération ».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Examinez les contenus signalés (publications, commentaires, fiches).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Approuvez, masquez ou supprimez selon les règles de la communauté.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Utilisez les actions groupées pour traiter le spam efficacement.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Une modération réactive protège la confiance des utilisateurs.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26463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4264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ADMINISTRATEURS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Gérer l'annuaire des établissements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Alimentez et fiabilisez l'annuaire des structures de santé.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Admin » → « Annuaire ».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Importez des structures depuis Google Places.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Traitez les demandes de revendication (attribution de propriété).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Appliquez la taxonomie (catégorie, secteur, niveau) et dédoublonnez.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Une taxonomie cohérente améliore les filtres et la recherche.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26463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4264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ADMINISTRATEURS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Suivre les revenus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Pilotez la performance financière : dons, abonnements, billetterie et commissions.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Ouvrez « Admin » → « Revenus ».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Analysez le chiffre d'affaires par ligne (dons, pages, événements, partenaires…).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Suivez les tendances, le revenu net et les frais de plateforme.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Exportez les rapports pour le suivi et la comptabilité.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7A5E"/>
                </a:solidFill>
                <a:latin typeface="Inter"/>
              </a:rPr>
              <a:t>ASTUCE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Distinguez revenu brut, frais et revenu net pour un pilotage fiable.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426463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4264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ADMINISTRATEURS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Campagnes &amp; paramètres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67085"/>
                </a:solidFill>
                <a:latin typeface="Inter"/>
              </a:rPr>
              <a:t>Diffusez des campagnes à l'échelle de la plateforme et configurez le site.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88920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3405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« Admin » → « Campagnes » : créez des campagnes SMS/WhatsApp ciblées.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02152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4728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Ciblez par intérêt, région ou communauté, puis suivez la diffusion.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16052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« Admin » → « Paramètres » : configurez identité, e-mails et intégrations.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28616"/>
            <a:ext cx="384048" cy="384048"/>
          </a:xfrm>
          <a:prstGeom prst="ellipse">
            <a:avLst/>
          </a:prstGeom>
          <a:solidFill>
            <a:srgbClr val="4F3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19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87375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0B1F49"/>
                </a:solidFill>
                <a:latin typeface="Inter"/>
              </a:rPr>
              <a:t>Gérez aussi redirections SEO, apparence et documents légaux.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5440680" cy="749808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23559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1E1E"/>
                </a:solidFill>
                <a:latin typeface="Inter"/>
              </a:rPr>
              <a:t>IMPORTANT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F49"/>
                </a:solidFill>
                <a:latin typeface="Inter"/>
              </a:rPr>
              <a:t>Vérifiez les consentements avant toute campagne de masse.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914400"/>
            <a:ext cx="5285232" cy="5166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8" y="1024128"/>
            <a:ext cx="5065776" cy="4946904"/>
          </a:xfrm>
          <a:prstGeom prst="roundRect">
            <a:avLst>
              <a:gd name="adj" fmla="val 4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914400"/>
            <a:ext cx="5285232" cy="5166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7085"/>
                </a:solidFill>
                <a:latin typeface="Inter"/>
              </a:rPr>
              <a:t>Aperçu de l'écran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4F39C7"/>
                </a:solidFill>
                <a:latin typeface="Inter"/>
              </a:rPr>
              <a:t>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B1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" y="-45720"/>
            <a:ext cx="4206240" cy="6949440"/>
          </a:xfrm>
          <a:prstGeom prst="rect">
            <a:avLst/>
          </a:prstGeom>
          <a:gradFill rotWithShape="1">
            <a:gsLst>
              <a:gs pos="0">
                <a:srgbClr val="007A5E"/>
              </a:gs>
              <a:gs pos="100000">
                <a:srgbClr val="0B1F49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24028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23570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WERGU YARAM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697480"/>
            <a:ext cx="7040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Inter"/>
              </a:rPr>
              <a:t>Sécurité, FAQ &amp; glossaire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728" y="3977639"/>
            <a:ext cx="914400" cy="73152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20624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EFDF8"/>
                </a:solidFill>
                <a:latin typeface="Inter"/>
              </a:rPr>
              <a:t>Bonnes pratiques, dépannage et lexique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5989320"/>
            <a:ext cx="93382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WERGU YARAM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Sécurité &amp; confidentialité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67085"/>
                </a:solidFill>
                <a:latin typeface="Inter"/>
              </a:rPr>
              <a:t>Quelques réflexes pour protéger votre compte et vos données.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072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718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Mot de passe 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747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Utilisez un mot de passe long et unique. Ne le partagez jamais.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146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6248" y="28072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9718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Connexion sûre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4747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Déconnectez-vous des appareils partagés. Méfiez-vous des liens suspects.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48646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0292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Vos données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321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Vous gérez vos consentements (SMS/WhatsApp) et vos informations depuis le profil.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5720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6248" y="48646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50292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Signalement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5321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Signalez tout contenu inapproprié : la modération intervient rapidement.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WERGU YARAM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FAQ &amp; dépannage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67085"/>
                </a:solidFill>
                <a:latin typeface="Inter"/>
              </a:rPr>
              <a:t>Les questions les plus fréquentes et leurs réponses.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072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718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Je ne parviens pas à me connecter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747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Vérifiez l'e-mail saisi, réinitialisez le mot de passe, puis réessayez. Contactez le support si besoin.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146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6248" y="28072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9718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Mon paiement a échoué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4747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Vérifiez le solde/le plafond, réessayez avec un autre moyen (Wave, Orange Money, MTN, carte). Aucun montant n'est débité en cas d'échec.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48646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0292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Je ne vois pas l'espace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321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Les menus dépendent de votre rôle et de vos permissions. Demandez les droits nécessaires à un administrateur.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5720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6248" y="48646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50292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Comment contacter le support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5321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Via la bulle de support (en bas à droite), par e-mail ou WhatsApp.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37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1089964" cy="310896"/>
          </a:xfrm>
          <a:prstGeom prst="roundRect">
            <a:avLst>
              <a:gd name="adj" fmla="val 50000"/>
            </a:avLst>
          </a:prstGeom>
          <a:solidFill>
            <a:srgbClr val="E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"/>
            <a:ext cx="10899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WERGU YARAM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49"/>
                </a:solidFill>
                <a:latin typeface="Inter"/>
              </a:rPr>
              <a:t>Glossaire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67085"/>
                </a:solidFill>
                <a:latin typeface="Inter"/>
              </a:rPr>
              <a:t>Les termes clés de la plateforme.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072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718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DCI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747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Dénomination Commune Internationale : le nom du principe actif d'un médicament.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146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6248" y="28072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9718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Établissement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4747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Structure de santé : CSPS, Centre médical (CM), CMA ou Centre hospitalier (CH).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48646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0292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Besoin d'équipement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321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Campagne de financement participatif pour un matériel précis d'une structure.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572000"/>
            <a:ext cx="53492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EF2"/>
            </a:solidFill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6248" y="4864608"/>
            <a:ext cx="457200" cy="64008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5029200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49"/>
                </a:solidFill>
                <a:latin typeface="Inter"/>
              </a:rPr>
              <a:t>Espace partenaire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5321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Inter"/>
              </a:rPr>
              <a:t>Mini-site de marque dédié à une organisation partenaire (multi-tenant).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085"/>
                </a:solidFill>
                <a:latin typeface="Inter"/>
              </a:rPr>
              <a:t>Wergu Yaram — Portail santé du Sénégal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07A5E"/>
                </a:solidFill>
                <a:latin typeface="Inter"/>
              </a:rPr>
              <a:t>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gradFill rotWithShape="1">
            <a:gsLst>
              <a:gs pos="0">
                <a:srgbClr val="007A5E"/>
              </a:gs>
              <a:gs pos="100000">
                <a:srgbClr val="00B89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41367" y="1371600"/>
            <a:ext cx="3108960" cy="1143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10000" dist="40000" dir="5400000" rotWithShape="0">
              <a:srgbClr val="0B1F49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535" y="1618488"/>
            <a:ext cx="1600834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Inter"/>
              </a:rPr>
              <a:t>Merci d'utiliser Wergu Yaram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448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EEFDF8"/>
                </a:solidFill>
                <a:latin typeface="Inter"/>
              </a:rPr>
              <a:t>Ensemble, rendons l'information santé accessible à tous.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Support : bulle d'aide sur le site · werguyaram.org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